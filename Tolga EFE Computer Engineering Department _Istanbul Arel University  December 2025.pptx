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DB4A04-361C-4A28-B6AE-1CA3D1557B47}">
  <a:tblStyle styleId="{36DB4A04-361C-4A28-B6AE-1CA3D1557B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91a3b33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91a3b33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391a3b33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391a3b33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391a3b33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391a3b33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391a3b33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391a3b33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391a3b33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391a3b33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391a3b33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391a3b33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391a3b33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391a3b33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384075"/>
            <a:ext cx="8520600" cy="148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450"/>
              <a:t>Tolga EFE</a:t>
            </a:r>
            <a:endParaRPr sz="14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450"/>
              <a:t>Computer Engineering Department </a:t>
            </a:r>
            <a:br>
              <a:rPr lang="tr" sz="1450"/>
            </a:br>
            <a:r>
              <a:rPr lang="tr" sz="1450"/>
              <a:t>Istanbul Arel University </a:t>
            </a:r>
            <a:endParaRPr sz="14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450"/>
              <a:t>December 2025</a:t>
            </a:r>
            <a:endParaRPr sz="1450"/>
          </a:p>
        </p:txBody>
      </p:sp>
      <p:sp>
        <p:nvSpPr>
          <p:cNvPr id="55" name="Google Shape;55;p13"/>
          <p:cNvSpPr txBox="1"/>
          <p:nvPr/>
        </p:nvSpPr>
        <p:spPr>
          <a:xfrm>
            <a:off x="218400" y="408150"/>
            <a:ext cx="8707200" cy="14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2400">
                <a:solidFill>
                  <a:schemeClr val="dk1"/>
                </a:solidFill>
              </a:rPr>
              <a:t>A Novel Two-Stage Ensemble Learning Framework 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2400">
                <a:solidFill>
                  <a:schemeClr val="dk1"/>
                </a:solidFill>
              </a:rPr>
              <a:t>for Network Intrusion Detection 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2400">
                <a:solidFill>
                  <a:schemeClr val="dk1"/>
                </a:solidFill>
              </a:rPr>
              <a:t>with Hybrid Feature Selection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314450"/>
            <a:ext cx="8520600" cy="42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dk1"/>
                </a:solidFill>
              </a:rPr>
              <a:t>CURRENT CYBERSECURITY CHALLENGES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• Cyberattacks becoming increasingly sophisticated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• Traditional methods are insufficient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• New attack types emerge daily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dk1"/>
                </a:solidFill>
              </a:rPr>
              <a:t>PROBLEMS IN EXISTING METHODS: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1. Class imbalance (very few attack samples)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2. High-dimensional feature space (41 features)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3. Difficulty distinguishing attack types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4. Low explainability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592725" y="1160500"/>
            <a:ext cx="2904900" cy="1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900">
                <a:solidFill>
                  <a:schemeClr val="dk1"/>
                </a:solidFill>
              </a:rPr>
              <a:t>Training set distribution: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solidFill>
                  <a:schemeClr val="dk1"/>
                </a:solidFill>
              </a:rPr>
              <a:t>- Normal: 67,343 samples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solidFill>
                  <a:schemeClr val="dk1"/>
                </a:solidFill>
              </a:rPr>
              <a:t>- DoS: 45,927 samples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900">
                <a:solidFill>
                  <a:schemeClr val="dk1"/>
                </a:solidFill>
              </a:rPr>
              <a:t>- Probe: 11,656 samples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900">
                <a:solidFill>
                  <a:schemeClr val="dk1"/>
                </a:solidFill>
              </a:rPr>
              <a:t>- R2L: 995 samples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900">
                <a:solidFill>
                  <a:schemeClr val="dk1"/>
                </a:solidFill>
              </a:rPr>
              <a:t>- U2R: 52 sample  ← ALMOST NOTHING!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3357900" y="798150"/>
            <a:ext cx="1474800" cy="95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STAGE 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</a:rPr>
              <a:t>Normal or Attack?           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</a:rPr>
              <a:t>Accuracy: 79.43% 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4162675" y="2034450"/>
            <a:ext cx="1939200" cy="95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STAGE 2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Which Attack Type?        DoS/Probe/R2L/U2R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Accuracy: 82.90%  </a:t>
            </a:r>
            <a:r>
              <a:rPr lang="tr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68" name="Google Shape;68;p15"/>
          <p:cNvCxnSpPr>
            <a:stCxn id="66" idx="2"/>
            <a:endCxn id="67" idx="0"/>
          </p:cNvCxnSpPr>
          <p:nvPr/>
        </p:nvCxnSpPr>
        <p:spPr>
          <a:xfrm>
            <a:off x="4095300" y="1749150"/>
            <a:ext cx="1037100" cy="28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5"/>
          <p:cNvSpPr/>
          <p:nvPr/>
        </p:nvSpPr>
        <p:spPr>
          <a:xfrm>
            <a:off x="3042125" y="2025150"/>
            <a:ext cx="969600" cy="96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/>
              <a:t>REQ</a:t>
            </a:r>
            <a:endParaRPr sz="1100"/>
          </a:p>
        </p:txBody>
      </p:sp>
      <p:cxnSp>
        <p:nvCxnSpPr>
          <p:cNvPr id="70" name="Google Shape;70;p15"/>
          <p:cNvCxnSpPr>
            <a:stCxn id="66" idx="2"/>
            <a:endCxn id="69" idx="0"/>
          </p:cNvCxnSpPr>
          <p:nvPr/>
        </p:nvCxnSpPr>
        <p:spPr>
          <a:xfrm flipH="1">
            <a:off x="3526800" y="1749150"/>
            <a:ext cx="568500" cy="27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5"/>
          <p:cNvSpPr txBox="1"/>
          <p:nvPr/>
        </p:nvSpPr>
        <p:spPr>
          <a:xfrm>
            <a:off x="3262925" y="1684950"/>
            <a:ext cx="74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solidFill>
                  <a:schemeClr val="dk2"/>
                </a:solidFill>
              </a:rPr>
              <a:t>Normal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583275" y="1684950"/>
            <a:ext cx="74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solidFill>
                  <a:schemeClr val="dk2"/>
                </a:solidFill>
              </a:rPr>
              <a:t>Attack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66850" y="2994750"/>
            <a:ext cx="8280600" cy="1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dk1"/>
                </a:solidFill>
              </a:rPr>
              <a:t>4 KEY INNOVATIONS: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1. Two-stage architecture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2. Hybrid feature selection (MI-Boruta)  41 → 33 features (-20%)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3. Stacked ensemble learning (RF + XGBoost + CatBoost + MLP)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4. Stage-specific SMOTE balancing ( U2R: 52 → 45,927 samples (balanced!) 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66850" y="209625"/>
            <a:ext cx="828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600">
                <a:solidFill>
                  <a:schemeClr val="dk1"/>
                </a:solidFill>
              </a:rPr>
              <a:t>PROPOSED SOLUTION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161725" y="628900"/>
            <a:ext cx="2613000" cy="26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800">
                <a:solidFill>
                  <a:schemeClr val="dk1"/>
                </a:solidFill>
              </a:rPr>
              <a:t>Stage 1: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tr" sz="800">
                <a:solidFill>
                  <a:schemeClr val="dk1"/>
                </a:solidFill>
              </a:rPr>
              <a:t>RF: 77.35%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tr" sz="800">
                <a:solidFill>
                  <a:schemeClr val="dk1"/>
                </a:solidFill>
              </a:rPr>
              <a:t>XGBoost: 80.32% (best single)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tr" sz="800">
                <a:solidFill>
                  <a:schemeClr val="dk1"/>
                </a:solidFill>
              </a:rPr>
              <a:t>CatBoost: 78.77%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tr" sz="800">
                <a:solidFill>
                  <a:schemeClr val="dk1"/>
                </a:solidFill>
              </a:rPr>
              <a:t>Stacked: 79.43% ✓ (ensemble effect)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800">
                <a:solidFill>
                  <a:schemeClr val="dk1"/>
                </a:solidFill>
              </a:rPr>
              <a:t>Stage 2: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tr" sz="800">
                <a:solidFill>
                  <a:schemeClr val="dk1"/>
                </a:solidFill>
              </a:rPr>
              <a:t>RF: 77.73%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tr" sz="800">
                <a:solidFill>
                  <a:schemeClr val="dk1"/>
                </a:solidFill>
              </a:rPr>
              <a:t>XGBoost: 83.18% (best single)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tr" sz="800">
                <a:solidFill>
                  <a:schemeClr val="dk1"/>
                </a:solidFill>
              </a:rPr>
              <a:t>CatBoost: 81.14%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tr" sz="800">
                <a:solidFill>
                  <a:schemeClr val="dk1"/>
                </a:solidFill>
              </a:rPr>
              <a:t>Stacked: 82.90% ✓ (thanks to diversity)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464100" y="466850"/>
            <a:ext cx="8520600" cy="42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dk1"/>
                </a:solidFill>
              </a:rPr>
              <a:t>ACHIEVEMENTS: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Overall Accuracy:    81.40% ✨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Precision:          86.45% (Low false alarms!)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F1-Score:           81.74%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chemeClr val="dk1"/>
                </a:solidFill>
              </a:rPr>
              <a:t>PER-CLASS PERFORMANCE: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✓ DoS:   91.3%  ← Best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✓ Probe: 78.6%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✓ R2L:   72.8%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✓ U2R:   58.5%  ← Thanks to SMOTE!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         (Was 12.5% → +46% improvement!)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81" name="Google Shape;81;p16" title="confusion_matrix_stag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2575" y="770938"/>
            <a:ext cx="4199777" cy="3346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 title="confusion_matrix_stage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8726" y="488525"/>
            <a:ext cx="4853750" cy="416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464100" y="466850"/>
            <a:ext cx="85206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dk1"/>
                </a:solidFill>
              </a:rPr>
              <a:t>BASELINE COMPARISON</a:t>
            </a:r>
            <a:r>
              <a:rPr b="1" lang="tr" sz="1600">
                <a:solidFill>
                  <a:schemeClr val="dk1"/>
                </a:solidFill>
              </a:rPr>
              <a:t>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200">
                <a:solidFill>
                  <a:schemeClr val="dk1"/>
                </a:solidFill>
              </a:rPr>
              <a:t>    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92" name="Google Shape;92;p18"/>
          <p:cNvGraphicFramePr/>
          <p:nvPr/>
        </p:nvGraphicFramePr>
        <p:xfrm>
          <a:off x="1012400" y="126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{36DB4A04-361C-4A28-B6AE-1CA3D1557B47}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</a:rPr>
                        <a:t>Model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100">
                          <a:solidFill>
                            <a:schemeClr val="dk1"/>
                          </a:solidFill>
                        </a:rPr>
                        <a:t>Random Forest           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100">
                          <a:solidFill>
                            <a:schemeClr val="dk1"/>
                          </a:solidFill>
                        </a:rPr>
                        <a:t>76.82%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100">
                          <a:solidFill>
                            <a:schemeClr val="dk1"/>
                          </a:solidFill>
                        </a:rPr>
                        <a:t>XGBoost                   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100">
                          <a:solidFill>
                            <a:schemeClr val="dk1"/>
                          </a:solidFill>
                        </a:rPr>
                        <a:t>78.21%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100">
                          <a:solidFill>
                            <a:schemeClr val="dk1"/>
                          </a:solidFill>
                        </a:rPr>
                        <a:t>Single-Stage Ensemble  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100">
                          <a:solidFill>
                            <a:schemeClr val="dk1"/>
                          </a:solidFill>
                        </a:rPr>
                        <a:t>79.12%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100">
                          <a:solidFill>
                            <a:schemeClr val="dk1"/>
                          </a:solidFill>
                        </a:rPr>
                        <a:t>OURS (Two-Stage)    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100">
                          <a:solidFill>
                            <a:schemeClr val="dk1"/>
                          </a:solidFill>
                        </a:rPr>
                        <a:t>81.40% 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100">
                          <a:solidFill>
                            <a:schemeClr val="dk1"/>
                          </a:solidFill>
                        </a:rPr>
                        <a:t>  +2.28% better!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3" name="Google Shape;93;p18"/>
          <p:cNvSpPr txBox="1"/>
          <p:nvPr/>
        </p:nvSpPr>
        <p:spPr>
          <a:xfrm>
            <a:off x="952500" y="3534275"/>
            <a:ext cx="72390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100">
                <a:solidFill>
                  <a:schemeClr val="dk1"/>
                </a:solidFill>
              </a:rPr>
              <a:t>GAINS: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</a:rPr>
              <a:t>- Training time: -27%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</a:rPr>
              <a:t>- Features: 41→33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</a:rPr>
              <a:t>- U2R recall: +46%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600"/>
              <a:t>CONCLUSION:</a:t>
            </a:r>
            <a:endParaRPr b="1" sz="2600"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81.40% overall accuracy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Two-stage → Explainable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SMOTE → Detected rare attacks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Hybrid selection → Fast &amp; accurate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chemeClr val="dk1"/>
                </a:solidFill>
              </a:rPr>
              <a:t>FUTURE WORK: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- Modern datasets (CICIDS2017)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- Deep learning (LSTM)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- Real deployment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269525"/>
            <a:ext cx="8520600" cy="42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>
                <a:solidFill>
                  <a:schemeClr val="dk1"/>
                </a:solidFill>
              </a:rPr>
              <a:t>Thank you!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>
                <a:solidFill>
                  <a:schemeClr val="dk1"/>
                </a:solidFill>
              </a:rPr>
              <a:t>Questions?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